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big_b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7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00200"/>
            <a:ext cx="94484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0EDE8"/>
                </a:solidFill>
                <a:latin typeface="Outfit"/>
              </a:defRPr>
            </a:pPr>
            <a:r>
              <a:t>🏴󠁧󠁢󠁥󠁮󠁧󠁿 🏴󠁧󠁢󠁳󠁣󠁴󠁿 🏴󠁧󠁢󠁷󠁬󠁳󠁿 🇮🇪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943100"/>
            <a:ext cx="9448495" cy="94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0EDE8"/>
                </a:solidFill>
                <a:latin typeface="Outfit"/>
              </a:defRPr>
            </a:pPr>
            <a:r>
              <a:t>走近英国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27960"/>
            <a:ext cx="9448495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0EDE8"/>
                </a:solidFill>
                <a:latin typeface="Outfit"/>
              </a:defRPr>
            </a:pPr>
            <a:r>
              <a:t>The United Kingdom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987040"/>
            <a:ext cx="9448495" cy="436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0EDE8"/>
                </a:solidFill>
                <a:latin typeface="Outfit"/>
              </a:defRPr>
            </a:pPr>
            <a:r>
              <a:t>在古老与传统中，看见创新与未来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aerial_we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7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548640"/>
            <a:ext cx="94484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0EDE8"/>
                </a:solidFill>
                <a:latin typeface="Outfit"/>
              </a:defRPr>
            </a:pPr>
            <a:r>
              <a:t>🌍 地理位置 &amp; 地形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3444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0EDE8"/>
                </a:solidFill>
                <a:latin typeface="Outfit"/>
              </a:defRPr>
            </a:pPr>
            <a:r>
              <a:t>英国位于欧洲西北部，由大不列颠岛及周边岛屿组成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8D8EE"/>
                </a:solidFill>
                <a:latin typeface="Outfit"/>
              </a:defRPr>
            </a:pPr>
            <a:r>
              <a:t>🏴󠁧󠁢󠁥󠁮󠁧󠁿 英格兰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46888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EDE8"/>
                </a:solidFill>
                <a:latin typeface="Outfit"/>
              </a:defRPr>
            </a:pPr>
            <a:r>
              <a:t>面积最大、人口最多。南部平原+北部奔宁山脉。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971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8D8EE"/>
                </a:solidFill>
                <a:latin typeface="Outfit"/>
              </a:defRPr>
            </a:pPr>
            <a:r>
              <a:t>🏴󠁧󠁢󠁳󠁣󠁴󠁿 苏格兰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9718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EDE8"/>
                </a:solidFill>
                <a:latin typeface="Outfit"/>
              </a:defRPr>
            </a:pPr>
            <a:r>
              <a:t>高地山地为主。本尼维斯山(1345m)最高。780+岛屿。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474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8D8EE"/>
                </a:solidFill>
                <a:latin typeface="Outfit"/>
              </a:defRPr>
            </a:pPr>
            <a:r>
              <a:t>🏴󠁧󠁢󠁷󠁬󠁳󠁿 威尔士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474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EDE8"/>
                </a:solidFill>
                <a:latin typeface="Outfit"/>
              </a:defRPr>
            </a:pPr>
            <a:r>
              <a:t>多山地丘陵。斯诺登山(1085m)。海岸线+城堡遗迹。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97763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8D8EE"/>
                </a:solidFill>
                <a:latin typeface="Outfit"/>
              </a:defRPr>
            </a:pPr>
            <a:r>
              <a:t>🇮🇪 北爱尔兰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397763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EDE8"/>
                </a:solidFill>
                <a:latin typeface="Outfit"/>
              </a:defRPr>
            </a:pPr>
            <a:r>
              <a:t>平原低丘陵。内伊湖为全英最大湖。巨人堤道。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tower_bri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E6DC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548640"/>
            <a:ext cx="94484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A3A4A"/>
                </a:solidFill>
                <a:latin typeface="Outfit"/>
              </a:defRPr>
            </a:pPr>
            <a:r>
              <a:t>主要河流 &amp; 首都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3444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A3A4A"/>
                </a:solidFill>
                <a:latin typeface="Outfit"/>
              </a:defRPr>
            </a:pPr>
            <a:r>
              <a:t>英国的河流虽不漫长，却在工业革命中扮演了关键角色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2468880"/>
            <a:ext cx="4587087" cy="3200400"/>
          </a:xfrm>
          <a:prstGeom prst="rect">
            <a:avLst/>
          </a:prstGeom>
          <a:solidFill>
            <a:srgbClr val="EBE8E1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2560320"/>
            <a:ext cx="431276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2A3A"/>
                </a:solidFill>
                <a:latin typeface="Outfit"/>
              </a:defRPr>
            </a:pPr>
            <a:r>
              <a:t>🌊 主要河流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880360"/>
            <a:ext cx="4312767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300">
                <a:solidFill>
                  <a:srgbClr val="2A3A4A"/>
                </a:solidFill>
                <a:latin typeface="Outfit"/>
              </a:defRPr>
            </a:pPr>
            <a:r>
              <a:t>泰晤士河 346km · 塞文河 354km</a:t>
            </a:r>
            <a:br/>
            <a:r>
              <a:t>特伦特河 298km · 克莱德河 176km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468880"/>
            <a:ext cx="4587087" cy="3200400"/>
          </a:xfrm>
          <a:prstGeom prst="rect">
            <a:avLst/>
          </a:prstGeom>
          <a:solidFill>
            <a:srgbClr val="EBE8E1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0167" y="2560320"/>
            <a:ext cx="431276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2A3A"/>
                </a:solidFill>
                <a:latin typeface="Outfit"/>
              </a:defRPr>
            </a:pPr>
            <a:r>
              <a:t>🏙️ 首都：伦敦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2880360"/>
            <a:ext cx="4312767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300">
                <a:solidFill>
                  <a:srgbClr val="2A3A4A"/>
                </a:solidFill>
                <a:latin typeface="Outfit"/>
              </a:defRPr>
            </a:pPr>
            <a:r>
              <a:t>泰晤士河下游，人口约900万</a:t>
            </a:r>
            <a:br/>
            <a:r>
              <a:t>全球顶级金融中心 · 大本钟 · 白金汉宫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london_n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7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548640"/>
            <a:ext cx="94484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0EDE8"/>
                </a:solidFill>
                <a:latin typeface="Outfit"/>
              </a:defRPr>
            </a:pPr>
            <a:r>
              <a:t>主要城市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3444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0EDE8"/>
                </a:solidFill>
                <a:latin typeface="Outfit"/>
              </a:defRPr>
            </a:pPr>
            <a:r>
              <a:t>英国四大地区的首府 — 各自的故事与气质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8D8EE"/>
                </a:solidFill>
                <a:latin typeface="Outfit"/>
              </a:defRPr>
            </a:pPr>
            <a:r>
              <a:t>🏴󠁧󠁢󠁥󠁮󠁧󠁿 伦敦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46888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EDE8"/>
                </a:solidFill>
                <a:latin typeface="Outfit"/>
              </a:defRPr>
            </a:pPr>
            <a:r>
              <a:t>London · 900万 · 全球金融中心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971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8D8EE"/>
                </a:solidFill>
                <a:latin typeface="Outfit"/>
              </a:defRPr>
            </a:pPr>
            <a:r>
              <a:t>🏴󠁧󠁢󠁳󠁣󠁴󠁿 爱丁堡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9718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EDE8"/>
                </a:solidFill>
                <a:latin typeface="Outfit"/>
              </a:defRPr>
            </a:pPr>
            <a:r>
              <a:t>Edinburgh · 50万 · 艺术节之都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474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8D8EE"/>
                </a:solidFill>
                <a:latin typeface="Outfit"/>
              </a:defRPr>
            </a:pPr>
            <a:r>
              <a:t>🏴󠁧󠁢󠁷󠁬󠁳󠁿 卡迪夫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474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EDE8"/>
                </a:solidFill>
                <a:latin typeface="Outfit"/>
              </a:defRPr>
            </a:pPr>
            <a:r>
              <a:t>Cardiff · 36万 · 千年古堡之城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97763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8D8EE"/>
                </a:solidFill>
                <a:latin typeface="Outfit"/>
              </a:defRPr>
            </a:pPr>
            <a:r>
              <a:t>🇮🇪 贝尔法斯特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397763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EDE8"/>
                </a:solidFill>
                <a:latin typeface="Outfit"/>
              </a:defRPr>
            </a:pPr>
            <a:r>
              <a:t>Belfast · 34万 · 泰坦尼克号诞生地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farml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E6DC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548640"/>
            <a:ext cx="94484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A3A4A"/>
                </a:solidFill>
                <a:latin typeface="Outfit"/>
              </a:defRPr>
            </a:pPr>
            <a:r>
              <a:t>🌾 农业与种植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3444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A3A4A"/>
                </a:solidFill>
                <a:latin typeface="Outfit"/>
              </a:defRPr>
            </a:pPr>
            <a:r>
              <a:t>英国农业以畜牧业为主体，受温带海洋性气候深刻影响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2468880"/>
            <a:ext cx="4587087" cy="3200400"/>
          </a:xfrm>
          <a:prstGeom prst="rect">
            <a:avLst/>
          </a:prstGeom>
          <a:solidFill>
            <a:srgbClr val="EBE8E1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2560320"/>
            <a:ext cx="431276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2A3A"/>
                </a:solidFill>
                <a:latin typeface="Outfit"/>
              </a:defRPr>
            </a:pPr>
            <a:r>
              <a:t>✅ 优势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880360"/>
            <a:ext cx="4312767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300">
                <a:solidFill>
                  <a:srgbClr val="2A3A4A"/>
                </a:solidFill>
                <a:latin typeface="Outfit"/>
              </a:defRPr>
            </a:pPr>
            <a:r>
              <a:t>温和湿润，牧草全年生长</a:t>
            </a:r>
            <a:br/>
            <a:r>
              <a:t>南部平原土壤肥沃</a:t>
            </a:r>
            <a:br/>
            <a:r>
              <a:t>轮作 + 现代农业技术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468880"/>
            <a:ext cx="4587087" cy="3200400"/>
          </a:xfrm>
          <a:prstGeom prst="rect">
            <a:avLst/>
          </a:prstGeom>
          <a:solidFill>
            <a:srgbClr val="EBE8E1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0167" y="2560320"/>
            <a:ext cx="431276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2A3A"/>
                </a:solidFill>
                <a:latin typeface="Outfit"/>
              </a:defRPr>
            </a:pPr>
            <a:r>
              <a:t>⚠️ 挑战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2880360"/>
            <a:ext cx="4312767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300">
                <a:solidFill>
                  <a:srgbClr val="2A3A4A"/>
                </a:solidFill>
                <a:latin typeface="Outfit"/>
              </a:defRPr>
            </a:pPr>
            <a:r>
              <a:t>高纬度日照不足</a:t>
            </a:r>
            <a:br/>
            <a:r>
              <a:t>降雨频繁导致涝渍</a:t>
            </a:r>
            <a:br/>
            <a:r>
              <a:t>劳动成本高，进口依赖大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66928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A3A4A"/>
                </a:solidFill>
                <a:latin typeface="Outfit"/>
              </a:defRPr>
            </a:pPr>
            <a:r>
              <a:t>🌾 主要作物：大麦、小麦、油菜籽 · 🐑 畜牧业占比 &gt;60%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industr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7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548640"/>
            <a:ext cx="94484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0EDE8"/>
                </a:solidFill>
                <a:latin typeface="Outfit"/>
              </a:defRPr>
            </a:pPr>
            <a:r>
              <a:t>⚙️ 工业革命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3444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0EDE8"/>
                </a:solidFill>
                <a:latin typeface="Outfit"/>
              </a:defRPr>
            </a:pPr>
            <a:r>
              <a:t>英国是工业革命的发源地 · 约1760–1840 · 从手工到机器的飞跃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2468880"/>
            <a:ext cx="4587087" cy="3200400"/>
          </a:xfrm>
          <a:prstGeom prst="rect">
            <a:avLst/>
          </a:prstGeom>
          <a:solidFill>
            <a:srgbClr val="283241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2560320"/>
            <a:ext cx="431276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8D8EE"/>
                </a:solidFill>
                <a:latin typeface="Outfit"/>
              </a:defRPr>
            </a:pPr>
            <a:r>
              <a:t>📜 核心变革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880360"/>
            <a:ext cx="4312767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300">
                <a:solidFill>
                  <a:srgbClr val="F0EDE8"/>
                </a:solidFill>
                <a:latin typeface="Outfit"/>
              </a:defRPr>
            </a:pPr>
            <a:r>
              <a:t>蒸汽机改良 → 机器取代手工</a:t>
            </a:r>
            <a:br/>
            <a:r>
              <a:t>纺织业机械化 → 工厂制度诞生</a:t>
            </a:r>
            <a:br/>
            <a:r>
              <a:t>英国成为"世界工厂"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468880"/>
            <a:ext cx="4587087" cy="3200400"/>
          </a:xfrm>
          <a:prstGeom prst="rect">
            <a:avLst/>
          </a:prstGeom>
          <a:solidFill>
            <a:srgbClr val="283241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0167" y="2560320"/>
            <a:ext cx="431276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8D8EE"/>
                </a:solidFill>
                <a:latin typeface="Outfit"/>
              </a:defRPr>
            </a:pPr>
            <a:r>
              <a:t>👤 杰出代表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2880360"/>
            <a:ext cx="4312767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300">
                <a:solidFill>
                  <a:srgbClr val="F0EDE8"/>
                </a:solidFill>
                <a:latin typeface="Outfit"/>
              </a:defRPr>
            </a:pPr>
            <a:r>
              <a:t>瓦特 — 改良蒸汽机，工业核心动力</a:t>
            </a:r>
            <a:br/>
            <a:r>
              <a:t>阿克莱特 — 水力纺纱机，现代工厂制度之父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steam_tr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E6DC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548640"/>
            <a:ext cx="94484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A3A4A"/>
                </a:solidFill>
                <a:latin typeface="Outfit"/>
              </a:defRPr>
            </a:pPr>
            <a:r>
              <a:t>发明成就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3444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A3A4A"/>
                </a:solidFill>
                <a:latin typeface="Outfit"/>
              </a:defRPr>
            </a:pPr>
            <a:r>
              <a:t>从蒸汽机到万维网 — 英国发明家深刻改变了人类文明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D3557"/>
                </a:solidFill>
                <a:latin typeface="Outfit"/>
              </a:defRPr>
            </a:pPr>
            <a:r>
              <a:t>1712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46888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3A4A"/>
                </a:solidFill>
                <a:latin typeface="Outfit"/>
              </a:defRPr>
            </a:pPr>
            <a:r>
              <a:t>纽科门蒸汽机 — 最早的实用蒸汽机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971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D3557"/>
                </a:solidFill>
                <a:latin typeface="Outfit"/>
              </a:defRPr>
            </a:pPr>
            <a:r>
              <a:t>1764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9718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3A4A"/>
                </a:solidFill>
                <a:latin typeface="Outfit"/>
              </a:defRPr>
            </a:pPr>
            <a:r>
              <a:t>珍妮纺纱机 — 纺织业机械化开端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474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D3557"/>
                </a:solidFill>
                <a:latin typeface="Outfit"/>
              </a:defRPr>
            </a:pPr>
            <a:r>
              <a:t>1769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474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3A4A"/>
                </a:solidFill>
                <a:latin typeface="Outfit"/>
              </a:defRPr>
            </a:pPr>
            <a:r>
              <a:t>瓦特蒸汽机 — 高效蒸汽动力诞生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97763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D3557"/>
                </a:solidFill>
                <a:latin typeface="Outfit"/>
              </a:defRPr>
            </a:pPr>
            <a:r>
              <a:t>1814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397763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3A4A"/>
                </a:solidFill>
                <a:latin typeface="Outfit"/>
              </a:defRPr>
            </a:pPr>
            <a:r>
              <a:t>蒸汽机车 — 斯蒂芬森"铁路时代"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48055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D3557"/>
                </a:solidFill>
                <a:latin typeface="Outfit"/>
              </a:defRPr>
            </a:pPr>
            <a:r>
              <a:t>1837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448055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3A4A"/>
                </a:solidFill>
                <a:latin typeface="Outfit"/>
              </a:defRPr>
            </a:pPr>
            <a:r>
              <a:t>电报 — 库克 &amp; 惠斯通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98347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D3557"/>
                </a:solidFill>
                <a:latin typeface="Outfit"/>
              </a:defRPr>
            </a:pPr>
            <a:r>
              <a:t>1989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98347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3A4A"/>
                </a:solidFill>
                <a:latin typeface="Outfit"/>
              </a:defRPr>
            </a:pPr>
            <a:r>
              <a:t>🌐 万维网 — 伯纳斯-李 · 信息时代开启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finan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7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548640"/>
            <a:ext cx="94484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0EDE8"/>
                </a:solidFill>
                <a:latin typeface="Outfit"/>
              </a:defRPr>
            </a:pPr>
            <a:r>
              <a:t>现代经济与教育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3444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0EDE8"/>
                </a:solidFill>
                <a:latin typeface="Outfit"/>
              </a:defRPr>
            </a:pPr>
            <a:r>
              <a:t>全球第六大经济体 · 最受欢迎的留学目的地之一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26767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63946"/>
                </a:solidFill>
                <a:latin typeface="Outfit"/>
              </a:defRPr>
            </a:pPr>
            <a:r>
              <a:t>#6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6767" y="2057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EDE8"/>
                </a:solidFill>
                <a:latin typeface="Outfit"/>
              </a:defRPr>
            </a:pPr>
            <a:r>
              <a:t>全球经济体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29887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63946"/>
                </a:solidFill>
                <a:latin typeface="Outfit"/>
              </a:defRPr>
            </a:pPr>
            <a:r>
              <a:t>38%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29887" y="2057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EDE8"/>
                </a:solidFill>
                <a:latin typeface="Outfit"/>
              </a:defRPr>
            </a:pPr>
            <a:r>
              <a:t>外汇交易份额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007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63946"/>
                </a:solidFill>
                <a:latin typeface="Outfit"/>
              </a:defRPr>
            </a:pPr>
            <a:r>
              <a:t>600K+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057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EDE8"/>
                </a:solidFill>
                <a:latin typeface="Outfit"/>
              </a:defRPr>
            </a:pPr>
            <a:r>
              <a:t>年留学生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6127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63946"/>
                </a:solidFill>
                <a:latin typeface="Outfit"/>
              </a:defRPr>
            </a:pPr>
            <a:r>
              <a:t>800+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6127" y="2057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EDE8"/>
                </a:solidFill>
                <a:latin typeface="Outfit"/>
              </a:defRPr>
            </a:pPr>
            <a:r>
              <a:t>年牛津历史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2743200"/>
            <a:ext cx="4587087" cy="3200400"/>
          </a:xfrm>
          <a:prstGeom prst="rect">
            <a:avLst/>
          </a:prstGeom>
          <a:solidFill>
            <a:srgbClr val="283241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08760" y="2834640"/>
            <a:ext cx="431276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8D8EE"/>
                </a:solidFill>
                <a:latin typeface="Outfit"/>
              </a:defRPr>
            </a:pPr>
            <a:r>
              <a:t>💰 支柱产业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154680"/>
            <a:ext cx="4312767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300">
                <a:solidFill>
                  <a:srgbClr val="F0EDE8"/>
                </a:solidFill>
                <a:latin typeface="Outfit"/>
              </a:defRPr>
            </a:pPr>
            <a:r>
              <a:t>金融服务 · 科技 · 制药</a:t>
            </a:r>
            <a:br/>
            <a:r>
              <a:t>创意产业 · 航空航天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2743200"/>
            <a:ext cx="4587087" cy="3200400"/>
          </a:xfrm>
          <a:prstGeom prst="rect">
            <a:avLst/>
          </a:prstGeom>
          <a:solidFill>
            <a:srgbClr val="283241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167" y="2834640"/>
            <a:ext cx="431276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8D8EE"/>
                </a:solidFill>
                <a:latin typeface="Outfit"/>
              </a:defRPr>
            </a:pPr>
            <a:r>
              <a:t>🎓 教育体系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3154680"/>
            <a:ext cx="4312767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300">
                <a:solidFill>
                  <a:srgbClr val="F0EDE8"/>
                </a:solidFill>
                <a:latin typeface="Outfit"/>
              </a:defRPr>
            </a:pPr>
            <a:r>
              <a:t>牛津(1096) · 剑桥(1209)</a:t>
            </a:r>
            <a:br/>
            <a:r>
              <a:t>帝国理工 · GCSE/A-Level 体系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oxf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E6DC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548640"/>
            <a:ext cx="94484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A3A4A"/>
                </a:solidFill>
                <a:latin typeface="Outfit"/>
              </a:defRPr>
            </a:pPr>
            <a:r>
              <a:t>世界名校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3444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A3A4A"/>
                </a:solidFill>
                <a:latin typeface="Outfit"/>
              </a:defRPr>
            </a:pPr>
            <a:r>
              <a:t>英国拥有世界最顶尖的高等学府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2468880"/>
            <a:ext cx="4587087" cy="3200400"/>
          </a:xfrm>
          <a:prstGeom prst="rect">
            <a:avLst/>
          </a:prstGeom>
          <a:solidFill>
            <a:srgbClr val="EBE8E1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2560320"/>
            <a:ext cx="431276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2A3A"/>
                </a:solidFill>
                <a:latin typeface="Outfit"/>
              </a:defRPr>
            </a:pPr>
            <a:r>
              <a:t>🏛️ 牛津大学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880360"/>
            <a:ext cx="4312767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300">
                <a:solidFill>
                  <a:srgbClr val="2A3A4A"/>
                </a:solidFill>
                <a:latin typeface="Outfit"/>
              </a:defRPr>
            </a:pPr>
            <a:r>
              <a:t>英语世界最古老(1096年建校)</a:t>
            </a:r>
            <a:br/>
            <a:r>
              <a:t>28位英国首相 · 55位诺贝尔奖得主</a:t>
            </a:r>
            <a:br/>
            <a:r>
              <a:t>博德利图书馆藏书1300万册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468880"/>
            <a:ext cx="4587087" cy="3200400"/>
          </a:xfrm>
          <a:prstGeom prst="rect">
            <a:avLst/>
          </a:prstGeom>
          <a:solidFill>
            <a:srgbClr val="EBE8E1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0167" y="2560320"/>
            <a:ext cx="431276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2A3A"/>
                </a:solidFill>
                <a:latin typeface="Outfit"/>
              </a:defRPr>
            </a:pPr>
            <a:r>
              <a:t>🔬 帝国理工学院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2880360"/>
            <a:ext cx="4312767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300">
                <a:solidFill>
                  <a:srgbClr val="2A3A4A"/>
                </a:solidFill>
                <a:latin typeface="Outfit"/>
              </a:defRPr>
            </a:pPr>
            <a:r>
              <a:t>成立于1907，专注科学·工程·医学</a:t>
            </a:r>
            <a:br/>
            <a:r>
              <a:t>QS全球前10 · 14位诺贝尔奖得主</a:t>
            </a:r>
            <a:br/>
            <a:r>
              <a:t>位于伦敦南肯辛顿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big_b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7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548640"/>
            <a:ext cx="94484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0EDE8"/>
                </a:solidFill>
                <a:latin typeface="Outfit"/>
              </a:defRPr>
            </a:pPr>
            <a:r>
              <a:t>🇬🇧 英国在世界中的地位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3444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0EDE8"/>
                </a:solidFill>
                <a:latin typeface="Outfit"/>
              </a:defRPr>
            </a:pPr>
            <a:r>
              <a:t>联合国安理会五常 · 北约 · G7 · G20 · 英联邦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2468880"/>
            <a:ext cx="4587087" cy="3200400"/>
          </a:xfrm>
          <a:prstGeom prst="rect">
            <a:avLst/>
          </a:prstGeom>
          <a:solidFill>
            <a:srgbClr val="283241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2560320"/>
            <a:ext cx="431276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8D8EE"/>
                </a:solidFill>
                <a:latin typeface="Outfit"/>
              </a:defRPr>
            </a:pPr>
            <a:r>
              <a:t>🌍 全球影响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880360"/>
            <a:ext cx="4312767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300">
                <a:solidFill>
                  <a:srgbClr val="F0EDE8"/>
                </a:solidFill>
                <a:latin typeface="Outfit"/>
              </a:defRPr>
            </a:pPr>
            <a:r>
              <a:t>BBC覆盖3.5亿用户</a:t>
            </a:r>
            <a:br/>
            <a:r>
              <a:t>英语为最广泛第二语言</a:t>
            </a:r>
            <a:br/>
            <a:r>
              <a:t>英联邦56国26亿人口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london_n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7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051560"/>
            <a:ext cx="94484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0EDE8"/>
                </a:solidFill>
                <a:latin typeface="Outfit"/>
              </a:defRPr>
            </a:pPr>
            <a:r>
              <a:t>🏴󠁧󠁢󠁥󠁮󠁧󠁿 🏴󠁧󠁢󠁳󠁣󠁴󠁿 🏴󠁧󠁢󠁷󠁬󠁳󠁿 🇮🇪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94460"/>
            <a:ext cx="9448495" cy="94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0EDE8"/>
                </a:solidFill>
                <a:latin typeface="Outfit"/>
              </a:defRPr>
            </a:pPr>
            <a:r>
              <a:t>走近英国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79319"/>
            <a:ext cx="94484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0EDE8"/>
                </a:solidFill>
                <a:latin typeface="Outfit"/>
              </a:defRPr>
            </a:pPr>
            <a:r>
              <a:t>从寒冷的高地到温润的平原，从蒸汽机的轰鸣到互联网的静默传递。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396489"/>
            <a:ext cx="94484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0EDE8"/>
                </a:solidFill>
                <a:latin typeface="Outfit"/>
              </a:defRPr>
            </a:pPr>
            <a:r>
              <a:t>英国，一个将古老与现代完美融合的国家。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887979"/>
            <a:ext cx="9448495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0EDE8"/>
                </a:solidFill>
                <a:latin typeface="Outfit"/>
              </a:defRPr>
            </a:pPr>
            <a:r>
              <a:t>四国一体，一个王国，无限可能。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