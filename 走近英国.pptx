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cover_n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A1C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solidFill>
            <a:srgbClr val="1A1C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1A1C2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48495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2600" b="0">
                <a:solidFill>
                  <a:srgbClr val="F0EDE8"/>
                </a:solidFill>
                <a:latin typeface="Arial"/>
              </a:defRPr>
            </a:pPr>
            <a:r>
              <a:t>🏴󠁧󠁢󠁥󠁮󠁧󠁿 🏴󠁧󠁢󠁳󠁣󠁴󠁿 🏴󠁧󠁢󠁷󠁬󠁳󠁿 🇮🇪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56846"/>
            <a:ext cx="9448495" cy="92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5000" b="1">
                <a:solidFill>
                  <a:srgbClr val="F0EDE8"/>
                </a:solidFill>
                <a:latin typeface="Arial"/>
              </a:defRPr>
            </a:pPr>
            <a:r>
              <a:t>走近英国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29307"/>
            <a:ext cx="9448495" cy="436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2000" b="0">
                <a:solidFill>
                  <a:srgbClr val="C0CCD8"/>
                </a:solidFill>
                <a:latin typeface="Arial"/>
              </a:defRPr>
            </a:pPr>
            <a:r>
              <a:t>The United Kingdom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02182"/>
            <a:ext cx="9448495" cy="3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700" b="0">
                <a:solidFill>
                  <a:srgbClr val="A0AEBE"/>
                </a:solidFill>
                <a:latin typeface="Arial"/>
              </a:defRPr>
            </a:pPr>
            <a:r>
              <a:t>在古老与传统中，看见创新与未来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aerial_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D355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0" y="457200"/>
            <a:ext cx="4144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2600" b="1">
                <a:solidFill>
                  <a:srgbClr val="F0EDE8"/>
                </a:solidFill>
                <a:latin typeface="Arial"/>
              </a:defRPr>
            </a:pPr>
            <a:r>
              <a:t>🌍 地理位置 &amp; 地形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960120"/>
            <a:ext cx="4144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200" b="0">
                <a:solidFill>
                  <a:srgbClr val="C0CCD8"/>
                </a:solidFill>
                <a:latin typeface="Arial"/>
              </a:defRPr>
            </a:pPr>
            <a:r>
              <a:t>英国由大不列颠岛及周边岛屿组成，位于欧洲西北部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82880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81051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🏴󠁧󠁢󠁥󠁮󠁧󠁿 英格兰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08483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南部平原 · 北部奔宁山脉</a:t>
            </a:r>
            <a:br/>
            <a:r>
              <a:t>人口最多 · 首都伦敦位于泰晤士河畔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83464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81635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🏴󠁧󠁢󠁳󠁣󠁴󠁿 苏格兰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9067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高地山地 · 本尼维斯山 1345m</a:t>
            </a:r>
            <a:br/>
            <a:r>
              <a:t>780+ 岛屿 · 首府爱丁堡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84048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82219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🏴󠁧󠁢󠁷󠁬󠁳󠁿 威尔士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09651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斯诺登山 1085m · 城堡遗迹</a:t>
            </a:r>
            <a:br/>
            <a:r>
              <a:t>海岸线闻名 · 首府卡迪夫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84632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82803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🇮🇪 北爱尔兰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10235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内伊湖（全英最大湖）</a:t>
            </a:r>
            <a:br/>
            <a:r>
              <a:t>巨人堤道 · 首府贝尔法斯特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6126480"/>
            <a:ext cx="4144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900" b="0">
                <a:solidFill>
                  <a:srgbClr val="8090A0"/>
                </a:solidFill>
                <a:latin typeface="Arial"/>
              </a:defRPr>
            </a:pPr>
            <a:r>
              <a:t>总面积 ≈ 24.4 万 km² · 经纬度 49°–61°N, 8°W–2°E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tower_b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F0EDE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solidFill>
            <a:srgbClr val="F0ED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3400" b="1">
                <a:solidFill>
                  <a:srgbClr val="1A2A3A"/>
                </a:solidFill>
                <a:latin typeface="Arial"/>
              </a:defRPr>
            </a:pPr>
            <a:r>
              <a:t>主要河流 &amp; 首都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英国的河流在工业革命与城市发展中扮演了关键角色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4572000" cy="1737360"/>
          </a:xfrm>
          <a:prstGeom prst="rect">
            <a:avLst/>
          </a:prstGeom>
          <a:solidFill>
            <a:srgbClr val="F5F2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A2A3A"/>
                </a:solidFill>
                <a:latin typeface="Arial"/>
              </a:defRPr>
            </a:pPr>
            <a:r>
              <a:t>🌊 主要河流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6177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2A3A4A"/>
                </a:solidFill>
                <a:latin typeface="Arial"/>
              </a:defRPr>
            </a:pPr>
            <a:r>
              <a:t>泰晤士河 346km · 塞文河 354km</a:t>
            </a:r>
            <a:br/>
            <a:r>
              <a:t>特伦特河 298km · 克莱德河 176km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4114800"/>
            <a:ext cx="4572000" cy="1737360"/>
          </a:xfrm>
          <a:prstGeom prst="rect">
            <a:avLst/>
          </a:prstGeom>
          <a:solidFill>
            <a:srgbClr val="F5F2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A2A3A"/>
                </a:solidFill>
                <a:latin typeface="Arial"/>
              </a:defRPr>
            </a:pPr>
            <a:r>
              <a:t>🏙️ 首都：伦敦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6177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2A3A4A"/>
                </a:solidFill>
                <a:latin typeface="Arial"/>
              </a:defRPr>
            </a:pPr>
            <a:r>
              <a:t>人口约 900 万</a:t>
            </a:r>
            <a:br/>
            <a:r>
              <a:t>全球顶级金融中心 · 希思罗机场</a:t>
            </a:r>
            <a:br/>
            <a:r>
              <a:t>大本钟 · 伦敦眼 · 白金汉宫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london_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D355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0" y="457200"/>
            <a:ext cx="4144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2600" b="1">
                <a:solidFill>
                  <a:srgbClr val="F0EDE8"/>
                </a:solidFill>
                <a:latin typeface="Arial"/>
              </a:defRPr>
            </a:pPr>
            <a:r>
              <a:t>🏙️ 主要城市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960120"/>
            <a:ext cx="4144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200" b="0">
                <a:solidFill>
                  <a:srgbClr val="C0CCD8"/>
                </a:solidFill>
                <a:latin typeface="Arial"/>
              </a:defRPr>
            </a:pPr>
            <a:r>
              <a:t>英国四大地区的首府 — 各自的气质与故事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82880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81051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🏴󠁧󠁢󠁥󠁮󠁧󠁿 伦敦 · 900万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08483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全球顶级金融中心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83464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81635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🏴󠁧󠁢󠁳󠁣󠁴󠁿 爱丁堡 · 50万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09067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世界艺术节之都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84048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82219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🏴󠁧󠁢󠁷󠁬󠁳󠁿 卡迪夫 · 36万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09651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千年城堡之城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84632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482803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🇮🇪 贝尔法斯特 · 34万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10235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泰坦尼克号诞生地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farml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F0EDE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solidFill>
            <a:srgbClr val="F0ED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3400" b="1">
                <a:solidFill>
                  <a:srgbClr val="1A2A3A"/>
                </a:solidFill>
                <a:latin typeface="Arial"/>
              </a:defRPr>
            </a:pPr>
            <a:r>
              <a:t>🌾 农业与种植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英国农业以畜牧业为主体，受温带海洋性气候深刻影响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4572000" cy="1737360"/>
          </a:xfrm>
          <a:prstGeom prst="rect">
            <a:avLst/>
          </a:prstGeom>
          <a:solidFill>
            <a:srgbClr val="F5F2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A2A3A"/>
                </a:solidFill>
                <a:latin typeface="Arial"/>
              </a:defRPr>
            </a:pPr>
            <a:r>
              <a:t>✅ 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6177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2A3A4A"/>
                </a:solidFill>
                <a:latin typeface="Arial"/>
              </a:defRPr>
            </a:pPr>
            <a:r>
              <a:t>温和湿润 · 南部平原土壤肥沃</a:t>
            </a:r>
            <a:br/>
            <a:r>
              <a:t>轮作 + 现代农业技术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4114800"/>
            <a:ext cx="4572000" cy="1737360"/>
          </a:xfrm>
          <a:prstGeom prst="rect">
            <a:avLst/>
          </a:prstGeom>
          <a:solidFill>
            <a:srgbClr val="F5F2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A2A3A"/>
                </a:solidFill>
                <a:latin typeface="Arial"/>
              </a:defRPr>
            </a:pPr>
            <a:r>
              <a:t>⚠️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6177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2A3A4A"/>
                </a:solidFill>
                <a:latin typeface="Arial"/>
              </a:defRPr>
            </a:pPr>
            <a:r>
              <a:t>高纬度日照不足</a:t>
            </a:r>
            <a:br/>
            <a:r>
              <a:t>降雨频繁 · 劳动成本高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100" b="0">
                <a:solidFill>
                  <a:srgbClr val="2A3A4A"/>
                </a:solidFill>
                <a:latin typeface="Arial"/>
              </a:defRPr>
            </a:pPr>
            <a:r>
              <a:t>🌾 大麦 · 小麦 · 油菜籽  |  🐑 畜牧业占比 &gt;60%  |  Cotswolds 农牧典范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industr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A1C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solidFill>
            <a:srgbClr val="1A1C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1A1C2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3400" b="1">
                <a:solidFill>
                  <a:srgbClr val="F0EDE8"/>
                </a:solidFill>
                <a:latin typeface="Arial"/>
              </a:defRPr>
            </a:pPr>
            <a:r>
              <a:t>⚙️ 工业革命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05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A0AEBE"/>
                </a:solidFill>
                <a:latin typeface="Arial"/>
              </a:defRPr>
            </a:pPr>
            <a:r>
              <a:t>英国是工业革命的发源地 (1760–1840) · 从手工到机器的飞跃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206240"/>
            <a:ext cx="4572000" cy="1737360"/>
          </a:xfrm>
          <a:prstGeom prst="rect">
            <a:avLst/>
          </a:prstGeom>
          <a:solidFill>
            <a:srgbClr val="282D3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F0EDE8"/>
                </a:solidFill>
                <a:latin typeface="Arial"/>
              </a:defRPr>
            </a:pPr>
            <a:r>
              <a:t>📜 核心变革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709159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F0EDE8"/>
                </a:solidFill>
                <a:latin typeface="Arial"/>
              </a:defRPr>
            </a:pPr>
            <a:r>
              <a:t>蒸汽机 → 机器替代手工</a:t>
            </a:r>
            <a:br/>
            <a:r>
              <a:t>工厂制度诞生 · 英国成为「世界工厂」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206240"/>
            <a:ext cx="4572000" cy="1737360"/>
          </a:xfrm>
          <a:prstGeom prst="rect">
            <a:avLst/>
          </a:prstGeom>
          <a:solidFill>
            <a:srgbClr val="282D3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F0EDE8"/>
                </a:solidFill>
                <a:latin typeface="Arial"/>
              </a:defRPr>
            </a:pPr>
            <a:r>
              <a:t>👤 杰出代表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709159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F0EDE8"/>
                </a:solidFill>
                <a:latin typeface="Arial"/>
              </a:defRPr>
            </a:pPr>
            <a:r>
              <a:t>瓦特 → 改良蒸汽机</a:t>
            </a:r>
            <a:br/>
            <a:r>
              <a:t>阿克莱特 → 现代工厂制度之父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steam_t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F0EDE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solidFill>
            <a:srgbClr val="F0ED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3400" b="1">
                <a:solidFill>
                  <a:srgbClr val="1A2A3A"/>
                </a:solidFill>
                <a:latin typeface="Arial"/>
              </a:defRPr>
            </a:pPr>
            <a:r>
              <a:t>💡 发明成就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从蒸汽机到万维网 — 英国发明家深刻改变了人类文明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solidFill>
            <a:srgbClr val="F5F2ED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D3557"/>
                </a:solidFill>
                <a:latin typeface="Arial"/>
              </a:defRPr>
            </a:pPr>
            <a:r>
              <a:t>1712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74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400" b="0">
                <a:solidFill>
                  <a:srgbClr val="C62828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20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纽科门蒸汽机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D3557"/>
                </a:solidFill>
                <a:latin typeface="Arial"/>
              </a:defRPr>
            </a:pPr>
            <a:r>
              <a:t>1764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400" b="0">
                <a:solidFill>
                  <a:srgbClr val="C62828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珍妮纺纱机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D3557"/>
                </a:solidFill>
                <a:latin typeface="Arial"/>
              </a:defRPr>
            </a:pPr>
            <a:r>
              <a:t>1769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400" b="0">
                <a:solidFill>
                  <a:srgbClr val="C62828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34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瓦特蒸汽机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D3557"/>
                </a:solidFill>
                <a:latin typeface="Arial"/>
              </a:defRPr>
            </a:pPr>
            <a:r>
              <a:t>1814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246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400" b="0">
                <a:solidFill>
                  <a:srgbClr val="C62828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91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蒸汽机车 · 斯蒂芬森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D3557"/>
                </a:solidFill>
                <a:latin typeface="Arial"/>
              </a:defRPr>
            </a:pPr>
            <a:r>
              <a:t>1837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400" b="0">
                <a:solidFill>
                  <a:srgbClr val="C62828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49039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电报 · 库克 &amp; 惠斯通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D3557"/>
                </a:solidFill>
                <a:latin typeface="Arial"/>
              </a:defRPr>
            </a:pPr>
            <a:r>
              <a:t>1989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400" b="0">
                <a:solidFill>
                  <a:srgbClr val="C62828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06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🌐 万维网 · 伯纳斯-李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financ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D3557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0" y="457200"/>
            <a:ext cx="4144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2600" b="1">
                <a:solidFill>
                  <a:srgbClr val="F0EDE8"/>
                </a:solidFill>
                <a:latin typeface="Arial"/>
              </a:defRPr>
            </a:pPr>
            <a:r>
              <a:t>现代经济与教育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960120"/>
            <a:ext cx="4144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200" b="0">
                <a:solidFill>
                  <a:srgbClr val="C0CCD8"/>
                </a:solidFill>
                <a:latin typeface="Arial"/>
              </a:defRPr>
            </a:pPr>
            <a:r>
              <a:t>全球第六大经济体 · 最受欢迎的留学目的地之一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463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2400" b="1">
                <a:solidFill>
                  <a:srgbClr val="E63946"/>
                </a:solidFill>
                <a:latin typeface="Arial"/>
              </a:defRPr>
            </a:pPr>
            <a:r>
              <a:t>#6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7190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000" b="0">
                <a:solidFill>
                  <a:srgbClr val="C0CCD8"/>
                </a:solidFill>
                <a:latin typeface="Arial"/>
              </a:defRPr>
            </a:pPr>
            <a:r>
              <a:t>全球经济体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463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2400" b="1">
                <a:solidFill>
                  <a:srgbClr val="E63946"/>
                </a:solidFill>
                <a:latin typeface="Arial"/>
              </a:defRPr>
            </a:pPr>
            <a:r>
              <a:t>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71907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000" b="0">
                <a:solidFill>
                  <a:srgbClr val="C0CCD8"/>
                </a:solidFill>
                <a:latin typeface="Arial"/>
              </a:defRPr>
            </a:pPr>
            <a:r>
              <a:t>外汇交易份额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2400" b="1">
                <a:solidFill>
                  <a:srgbClr val="E63946"/>
                </a:solidFill>
                <a:latin typeface="Arial"/>
              </a:defRPr>
            </a:pPr>
            <a:r>
              <a:t>600K+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67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000" b="0">
                <a:solidFill>
                  <a:srgbClr val="C0CCD8"/>
                </a:solidFill>
                <a:latin typeface="Arial"/>
              </a:defRPr>
            </a:pPr>
            <a:r>
              <a:t>年留学生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011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2400" b="1">
                <a:solidFill>
                  <a:srgbClr val="E63946"/>
                </a:solidFill>
                <a:latin typeface="Arial"/>
              </a:defRPr>
            </a:pPr>
            <a:r>
              <a:t>900+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267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000" b="0">
                <a:solidFill>
                  <a:srgbClr val="C0CCD8"/>
                </a:solidFill>
                <a:latin typeface="Arial"/>
              </a:defRPr>
            </a:pPr>
            <a:r>
              <a:t>年历史 · 牛津1096年建校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743200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72491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💰 支柱产业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99923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金融服务 · 科技 · 制药</a:t>
            </a:r>
            <a:br/>
            <a:r>
              <a:t>创意产业 · 航空航天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749039"/>
            <a:ext cx="54864" cy="502920"/>
          </a:xfrm>
          <a:prstGeom prst="rect">
            <a:avLst/>
          </a:prstGeom>
          <a:solidFill>
            <a:srgbClr val="E6394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730752"/>
            <a:ext cx="3779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🎓 教育体系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005072"/>
            <a:ext cx="3779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35000"/>
              </a:lnSpc>
              <a:defRPr sz="1100" b="0">
                <a:solidFill>
                  <a:srgbClr val="C0CCD8"/>
                </a:solidFill>
                <a:latin typeface="Arial"/>
              </a:defRPr>
            </a:pPr>
            <a:r>
              <a:t>牛津(1096) · 剑桥(1209)</a:t>
            </a:r>
            <a:br/>
            <a:r>
              <a:t>帝国理工 · GCSE/A-Level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oxf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F0EDE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solidFill>
            <a:srgbClr val="F0EDE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3400" b="1">
                <a:solidFill>
                  <a:srgbClr val="1A2A3A"/>
                </a:solidFill>
                <a:latin typeface="Arial"/>
              </a:defRPr>
            </a:pPr>
            <a:r>
              <a:t>🎓 世界名校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05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2A3A4A"/>
                </a:solidFill>
                <a:latin typeface="Arial"/>
              </a:defRPr>
            </a:pPr>
            <a:r>
              <a:t>英国拥有全球最顶尖的高等学府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4572000" cy="1737360"/>
          </a:xfrm>
          <a:prstGeom prst="rect">
            <a:avLst/>
          </a:prstGeom>
          <a:solidFill>
            <a:srgbClr val="F5F2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A2A3A"/>
                </a:solidFill>
                <a:latin typeface="Arial"/>
              </a:defRPr>
            </a:pPr>
            <a:r>
              <a:t>🏛️ 牛津大学 (1096)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6177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2A3A4A"/>
                </a:solidFill>
                <a:latin typeface="Arial"/>
              </a:defRPr>
            </a:pPr>
            <a:r>
              <a:t>英语世界最古老大学</a:t>
            </a:r>
            <a:br/>
            <a:r>
              <a:t>28位英国首相 · 55位诺贝尔奖得主</a:t>
            </a:r>
            <a:br/>
            <a:r>
              <a:t>博德利图书馆藏书1300万册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4114800"/>
            <a:ext cx="4572000" cy="1737360"/>
          </a:xfrm>
          <a:prstGeom prst="rect">
            <a:avLst/>
          </a:prstGeom>
          <a:solidFill>
            <a:srgbClr val="F5F2E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1A2A3A"/>
                </a:solidFill>
                <a:latin typeface="Arial"/>
              </a:defRPr>
            </a:pPr>
            <a:r>
              <a:t>🔬 帝国理工学院 (1907)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6177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2A3A4A"/>
                </a:solidFill>
                <a:latin typeface="Arial"/>
              </a:defRPr>
            </a:pPr>
            <a:r>
              <a:t>专注科学·工程·医学</a:t>
            </a:r>
            <a:br/>
            <a:r>
              <a:t>QS全球前10 · 14位诺贝尔奖得主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global_n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A1C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solidFill>
            <a:srgbClr val="1A1C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1A1C2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3400" b="1">
                <a:solidFill>
                  <a:srgbClr val="F0EDE8"/>
                </a:solidFill>
                <a:latin typeface="Arial"/>
              </a:defRPr>
            </a:pPr>
            <a:r>
              <a:t>🇬🇧 英国的世界地位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05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300" b="0">
                <a:solidFill>
                  <a:srgbClr val="A0AEBE"/>
                </a:solidFill>
                <a:latin typeface="Arial"/>
              </a:defRPr>
            </a:pPr>
            <a:r>
              <a:t>联合国安理会五常 · 北约 · G7 · G20 · 英联邦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286000"/>
            <a:ext cx="4572000" cy="1645920"/>
          </a:xfrm>
          <a:prstGeom prst="rect">
            <a:avLst/>
          </a:prstGeom>
          <a:solidFill>
            <a:srgbClr val="282D3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20000"/>
              </a:lnSpc>
              <a:defRPr sz="1400" b="1">
                <a:solidFill>
                  <a:srgbClr val="F0EDE8"/>
                </a:solidFill>
                <a:latin typeface="Arial"/>
              </a:defRPr>
            </a:pPr>
            <a:r>
              <a:t>🌍 全球影响力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l">
              <a:lnSpc>
                <a:spcPct val="140000"/>
              </a:lnSpc>
              <a:defRPr sz="1200" b="0">
                <a:solidFill>
                  <a:srgbClr val="F0EDE8"/>
                </a:solidFill>
                <a:latin typeface="Arial"/>
              </a:defRPr>
            </a:pPr>
            <a:r>
              <a:t>BBC 每周覆盖超 4.9 亿用户（2024年）</a:t>
            </a:r>
            <a:br/>
            <a:r>
              <a:t>英语：最广泛学习的第二语言</a:t>
            </a:r>
            <a:br/>
            <a:r>
              <a:t>英联邦 56 国 · 26 亿人口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572000"/>
            <a:ext cx="9601200" cy="640080"/>
          </a:xfrm>
          <a:prstGeom prst="rect">
            <a:avLst/>
          </a:prstGeom>
          <a:solidFill>
            <a:srgbClr val="E6394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645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300" b="1">
                <a:solidFill>
                  <a:srgbClr val="F0EDE8"/>
                </a:solidFill>
                <a:latin typeface="Arial"/>
              </a:defRPr>
            </a:pPr>
            <a:r>
              <a:t>📺 16秒精华视频短片可在线观看 → 网页版 ppt.html 第10页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pic>
        <p:nvPicPr>
          <p:cNvPr id="2" name="Picture 1" descr="uk_london_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pSpPr/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A1C2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solidFill>
            <a:srgbClr val="1A1C2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1A1C2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48495" cy="53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2600" b="0">
                <a:solidFill>
                  <a:srgbClr val="F0EDE8"/>
                </a:solidFill>
                <a:latin typeface="Arial"/>
              </a:defRPr>
            </a:pPr>
            <a:r>
              <a:t>🏴󠁧󠁢󠁥󠁮󠁧󠁿 🏴󠁧󠁢󠁳󠁣󠁴󠁿 🏴󠁧󠁢󠁷󠁬󠁳󠁿 🇮🇪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42446"/>
            <a:ext cx="9448495" cy="926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5000" b="1">
                <a:solidFill>
                  <a:srgbClr val="F0EDE8"/>
                </a:solidFill>
                <a:latin typeface="Arial"/>
              </a:defRPr>
            </a:pPr>
            <a:r>
              <a:t>走近英国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4907"/>
            <a:ext cx="9448495" cy="3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700" b="0">
                <a:solidFill>
                  <a:srgbClr val="C0CCD8"/>
                </a:solidFill>
                <a:latin typeface="Arial"/>
              </a:defRPr>
            </a:pPr>
            <a:r>
              <a:t>从寒冷的高地到温润的平原，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38797"/>
            <a:ext cx="9448495" cy="387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700" b="0">
                <a:solidFill>
                  <a:srgbClr val="C0CCD8"/>
                </a:solidFill>
                <a:latin typeface="Arial"/>
              </a:defRPr>
            </a:pPr>
            <a:r>
              <a:t>从蒸汽机的轰鸣到互联网的静默传递。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2414"/>
            <a:ext cx="9448495" cy="40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1800" b="1">
                <a:solidFill>
                  <a:srgbClr val="F0EDE8"/>
                </a:solidFill>
                <a:latin typeface="Arial"/>
              </a:defRPr>
            </a:pPr>
            <a:r>
              <a:t>古老传统与现代创新，完美融合。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2361"/>
            <a:ext cx="9448495" cy="436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Pr sz="1200">
              <a:latin typeface="Arial"/>
              <a:ea typeface="Microsoft YaHei"/>
              <a:sym typeface="Segoe UI Emoji"/>
            </a:rPr>
            <a:pPr algn="ctr">
              <a:lnSpc>
                <a:spcPct val="120000"/>
              </a:lnSpc>
              <a:defRPr sz="2000" b="1">
                <a:solidFill>
                  <a:srgbClr val="F0EDE8"/>
                </a:solidFill>
                <a:latin typeface="Arial"/>
              </a:defRPr>
            </a:pPr>
            <a:r>
              <a:t>四国一体 · 一个王国 · 无限可能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